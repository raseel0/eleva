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rata" charset="1" panose="00000500000000000000"/>
      <p:regular r:id="rId28"/>
    </p:embeddedFont>
    <p:embeddedFont>
      <p:font typeface="Raleway" charset="1" panose="020B0503030101060003"/>
      <p:regular r:id="rId29"/>
    </p:embeddedFont>
    <p:embeddedFont>
      <p:font typeface="Raleway Bold" charset="1" panose="020B08030301010600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74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95680" y="4428514"/>
            <a:ext cx="14296639" cy="168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98"/>
              </a:lnSpc>
            </a:pPr>
            <a:r>
              <a:rPr lang="en-US" sz="12798">
                <a:solidFill>
                  <a:srgbClr val="F7F4EF"/>
                </a:solidFill>
                <a:latin typeface="Prata"/>
                <a:ea typeface="Prata"/>
                <a:cs typeface="Prata"/>
                <a:sym typeface="Prata"/>
              </a:rPr>
              <a:t>ELEVA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74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95680" y="2201808"/>
            <a:ext cx="14296639" cy="168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98"/>
              </a:lnSpc>
            </a:pPr>
            <a:r>
              <a:rPr lang="en-US" sz="12798">
                <a:solidFill>
                  <a:srgbClr val="F7F4EF"/>
                </a:solidFill>
                <a:latin typeface="Prata"/>
                <a:ea typeface="Prata"/>
                <a:cs typeface="Prata"/>
                <a:sym typeface="Prata"/>
              </a:rPr>
              <a:t>ELEVA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28490" y="5792491"/>
            <a:ext cx="6831020" cy="575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7"/>
              </a:lnSpc>
            </a:pPr>
            <a:r>
              <a:rPr lang="en-US" sz="4347">
                <a:solidFill>
                  <a:srgbClr val="F7F4EF"/>
                </a:solidFill>
                <a:latin typeface="Prata"/>
                <a:ea typeface="Prata"/>
                <a:cs typeface="Prata"/>
                <a:sym typeface="Prata"/>
              </a:rPr>
              <a:t>RASEEL AL-KHAMEES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28490" y="7147636"/>
            <a:ext cx="6831020" cy="575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7"/>
              </a:lnSpc>
            </a:pPr>
            <a:r>
              <a:rPr lang="en-US" sz="4347">
                <a:solidFill>
                  <a:srgbClr val="F7F4EF"/>
                </a:solidFill>
                <a:latin typeface="Prata"/>
                <a:ea typeface="Prata"/>
                <a:cs typeface="Prata"/>
                <a:sym typeface="Prata"/>
              </a:rPr>
              <a:t>AISHA GAMMASH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33450"/>
            <a:ext cx="812024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PRO</a:t>
            </a:r>
            <a:r>
              <a:rPr lang="en-US" sz="4800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0960" y="2431646"/>
            <a:ext cx="13060976" cy="152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6"/>
              </a:lnSpc>
            </a:pPr>
            <a:r>
              <a:rPr lang="en-US" sz="2691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An</a:t>
            </a:r>
            <a:r>
              <a:rPr lang="en-US" sz="2691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 AI platform designed to bridge the gap between job seekers and target technical roles through automated analysis, match scoring, personalized learning plans, and interview preparation.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0960" y="5057775"/>
            <a:ext cx="16228340" cy="301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6"/>
              </a:lnSpc>
            </a:pPr>
            <a:r>
              <a:rPr lang="en-US" b="true" sz="2691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Key</a:t>
            </a:r>
            <a:r>
              <a:rPr lang="en-US" b="true" sz="2691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Workflow:</a:t>
            </a:r>
          </a:p>
          <a:p>
            <a:pPr algn="just" marL="581037" indent="-290519" lvl="1">
              <a:lnSpc>
                <a:spcPts val="4036"/>
              </a:lnSpc>
              <a:buFont typeface="Arial"/>
              <a:buChar char="•"/>
            </a:pPr>
            <a:r>
              <a:rPr lang="en-US" sz="2691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Upload a resume (PDF) and select a target job title.</a:t>
            </a:r>
          </a:p>
          <a:p>
            <a:pPr algn="just" marL="581037" indent="-290519" lvl="1">
              <a:lnSpc>
                <a:spcPts val="4036"/>
              </a:lnSpc>
              <a:buFont typeface="Arial"/>
              <a:buChar char="•"/>
            </a:pPr>
            <a:r>
              <a:rPr lang="en-US" sz="2691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An advanced cooperating AI agent pipeline analyzes the resume and evaluates role requirements.</a:t>
            </a:r>
          </a:p>
          <a:p>
            <a:pPr algn="just" marL="581037" indent="-290519" lvl="1">
              <a:lnSpc>
                <a:spcPts val="4036"/>
              </a:lnSpc>
              <a:buFont typeface="Arial"/>
              <a:buChar char="•"/>
            </a:pPr>
            <a:r>
              <a:rPr lang="en-US" sz="2691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Delivers a tailored package including match scores, learning roadmaps or application-ready guides, resume improvements, and interview questions.</a:t>
            </a:r>
          </a:p>
          <a:p>
            <a:pPr algn="just">
              <a:lnSpc>
                <a:spcPts val="403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6706" y="247650"/>
            <a:ext cx="1114701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SYSTEM</a:t>
            </a:r>
            <a:r>
              <a:rPr lang="en-US" sz="4800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8571" y="1469973"/>
            <a:ext cx="15330858" cy="68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┌────────────────────────────────────────────┐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L</a:t>
            </a: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AYER 4: FRONTEND L</a:t>
            </a: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AYER (HTML / CSS / JS UI)                                                                             │ 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┌─────────────────────────────────────────┐  │ 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│  LAYER 3: API GATEWAY LAYER (FASTAPI, REST ENDPOINTS, CORS)                        │ │ 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│   ┌──────────────────────────────────────┐  │ │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│   │  LAYER 2: STORAGE &amp; SECURITY (SQLITE, SQLALCHEMY, AUTH)                  │  │ │ 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│   │   ┌───────────────────────────────────┐  │ │ │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│   │   │  LAYER 1: AI  AGENT LAYER (LANGGRAPH MULTI-AGENTS)                  │  │ │ │ 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│   │   │   ┌────────────────────────────────┐ │  │ │ │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│   │   │   │  LAYER 0: CORE LLM (QWEN2.5:7B VIA OLLAMA)                            │ │  │ │ │ 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│   │   │   └────────────────────────────────┘ │  │ │ │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│   │   └───────────────────────────────────┘  │ │ │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│   └──────────────────────────────────────┘ │ │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│   └─────────────────────────────────────────┘ │</a:t>
            </a:r>
          </a:p>
          <a:p>
            <a:pPr algn="l">
              <a:lnSpc>
                <a:spcPts val="3636"/>
              </a:lnSpc>
            </a:pPr>
            <a:r>
              <a:rPr lang="en-US" sz="2597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└────────────────────────────────────────────┘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37614" y="380313"/>
            <a:ext cx="3465359" cy="898068"/>
            <a:chOff x="0" y="0"/>
            <a:chExt cx="912687" cy="23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Analysis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37614" y="1845593"/>
            <a:ext cx="3465359" cy="898068"/>
            <a:chOff x="0" y="0"/>
            <a:chExt cx="912687" cy="2365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Job Requirements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37614" y="3530027"/>
            <a:ext cx="3465359" cy="898068"/>
            <a:chOff x="0" y="0"/>
            <a:chExt cx="912687" cy="236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   Skill Gap   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81399" y="4859385"/>
            <a:ext cx="2823536" cy="1481543"/>
            <a:chOff x="0" y="0"/>
            <a:chExt cx="743647" cy="390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Application Ready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73545" y="4840335"/>
            <a:ext cx="2823536" cy="1481543"/>
            <a:chOff x="0" y="0"/>
            <a:chExt cx="743647" cy="3902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Learning Planner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37614" y="6394164"/>
            <a:ext cx="3465359" cy="898068"/>
            <a:chOff x="0" y="0"/>
            <a:chExt cx="912687" cy="2365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Improvement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37614" y="7859444"/>
            <a:ext cx="3465359" cy="898068"/>
            <a:chOff x="0" y="0"/>
            <a:chExt cx="912687" cy="2365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Interview Prep 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570294" y="1278380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 flipH="true">
            <a:off x="9570294" y="2743661"/>
            <a:ext cx="0" cy="7863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551244" y="7292231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H="true">
            <a:off x="9551244" y="4428095"/>
            <a:ext cx="19050" cy="41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577906" y="4840335"/>
            <a:ext cx="19828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9560769" y="4821285"/>
            <a:ext cx="21359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7558856" y="4840335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1715725" y="4839140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6104935" y="560015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V="true">
            <a:off x="12214368" y="558110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7090890" y="5344886"/>
            <a:ext cx="97403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≥ 80%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76243" y="5344886"/>
            <a:ext cx="91420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&lt; 80%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47589" y="567386"/>
            <a:ext cx="2572714" cy="46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1"/>
              </a:lnSpc>
              <a:spcBef>
                <a:spcPct val="0"/>
              </a:spcBef>
            </a:pPr>
            <a:r>
              <a:rPr lang="en-US" b="true" sz="2708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resume upload</a:t>
            </a:r>
          </a:p>
        </p:txBody>
      </p:sp>
      <p:sp>
        <p:nvSpPr>
          <p:cNvPr name="AutoShape 38" id="38"/>
          <p:cNvSpPr/>
          <p:nvPr/>
        </p:nvSpPr>
        <p:spPr>
          <a:xfrm>
            <a:off x="6580861" y="829346"/>
            <a:ext cx="12567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>
            <a:off x="4693167" y="6340928"/>
            <a:ext cx="0" cy="5022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4585313" y="6321878"/>
            <a:ext cx="0" cy="5213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4693167" y="6843198"/>
            <a:ext cx="3279568" cy="2407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>
            <a:off x="11302973" y="6843198"/>
            <a:ext cx="32823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262842" y="9284325"/>
            <a:ext cx="5195597" cy="8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7"/>
              </a:lnSpc>
              <a:spcBef>
                <a:spcPct val="0"/>
              </a:spcBef>
            </a:pPr>
            <a:r>
              <a:rPr lang="en-US" b="true" sz="466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Agents Roadmap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37614" y="380313"/>
            <a:ext cx="3465359" cy="898068"/>
            <a:chOff x="0" y="0"/>
            <a:chExt cx="912687" cy="23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Analysis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37614" y="1845593"/>
            <a:ext cx="3465359" cy="898068"/>
            <a:chOff x="0" y="0"/>
            <a:chExt cx="912687" cy="2365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Job Requirements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37614" y="3530027"/>
            <a:ext cx="3465359" cy="898068"/>
            <a:chOff x="0" y="0"/>
            <a:chExt cx="912687" cy="236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   Skill Gap   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81399" y="4859385"/>
            <a:ext cx="2823536" cy="1481543"/>
            <a:chOff x="0" y="0"/>
            <a:chExt cx="743647" cy="390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Application Ready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73545" y="4840335"/>
            <a:ext cx="2823536" cy="1481543"/>
            <a:chOff x="0" y="0"/>
            <a:chExt cx="743647" cy="3902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Learning Planner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37614" y="6394164"/>
            <a:ext cx="3465359" cy="898068"/>
            <a:chOff x="0" y="0"/>
            <a:chExt cx="912687" cy="2365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Improvement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37614" y="7859444"/>
            <a:ext cx="3465359" cy="898068"/>
            <a:chOff x="0" y="0"/>
            <a:chExt cx="912687" cy="2365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Interview Prep 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570294" y="1278380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 flipH="true">
            <a:off x="9570294" y="2743661"/>
            <a:ext cx="0" cy="7863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551244" y="7292231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H="true">
            <a:off x="9551244" y="4428095"/>
            <a:ext cx="19050" cy="41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577906" y="4840335"/>
            <a:ext cx="19828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9560769" y="4821285"/>
            <a:ext cx="21359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7558856" y="4840335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1715725" y="4839140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6104935" y="560015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V="true">
            <a:off x="12214368" y="558110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7090890" y="5344886"/>
            <a:ext cx="97403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≥ 80%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76243" y="5344886"/>
            <a:ext cx="91420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&lt; 80%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47589" y="567386"/>
            <a:ext cx="2572714" cy="46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1"/>
              </a:lnSpc>
              <a:spcBef>
                <a:spcPct val="0"/>
              </a:spcBef>
            </a:pPr>
            <a:r>
              <a:rPr lang="en-US" b="true" sz="2708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resume upload</a:t>
            </a:r>
          </a:p>
        </p:txBody>
      </p:sp>
      <p:sp>
        <p:nvSpPr>
          <p:cNvPr name="AutoShape 38" id="38"/>
          <p:cNvSpPr/>
          <p:nvPr/>
        </p:nvSpPr>
        <p:spPr>
          <a:xfrm>
            <a:off x="6580861" y="829346"/>
            <a:ext cx="12567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>
            <a:off x="4693167" y="6340928"/>
            <a:ext cx="0" cy="5022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4585313" y="6321878"/>
            <a:ext cx="0" cy="5213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4693167" y="6843198"/>
            <a:ext cx="3279568" cy="2407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>
            <a:off x="11302973" y="6843198"/>
            <a:ext cx="32823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12731180" y="323163"/>
            <a:ext cx="323244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strengths/weaknesses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734775" y="863090"/>
            <a:ext cx="522525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extracts skills, education, experience,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62842" y="9284325"/>
            <a:ext cx="5195597" cy="8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7"/>
              </a:lnSpc>
              <a:spcBef>
                <a:spcPct val="0"/>
              </a:spcBef>
            </a:pPr>
            <a:r>
              <a:rPr lang="en-US" b="true" sz="466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Agents Roadmap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37614" y="380313"/>
            <a:ext cx="3465359" cy="898068"/>
            <a:chOff x="0" y="0"/>
            <a:chExt cx="912687" cy="23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Analysis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37614" y="1845593"/>
            <a:ext cx="3465359" cy="898068"/>
            <a:chOff x="0" y="0"/>
            <a:chExt cx="912687" cy="2365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Job Requirements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37614" y="3530027"/>
            <a:ext cx="3465359" cy="898068"/>
            <a:chOff x="0" y="0"/>
            <a:chExt cx="912687" cy="236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   Skill Gap   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81399" y="4859385"/>
            <a:ext cx="2823536" cy="1481543"/>
            <a:chOff x="0" y="0"/>
            <a:chExt cx="743647" cy="390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Application Ready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73545" y="4840335"/>
            <a:ext cx="2823536" cy="1481543"/>
            <a:chOff x="0" y="0"/>
            <a:chExt cx="743647" cy="3902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Learning Planner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37614" y="6394164"/>
            <a:ext cx="3465359" cy="898068"/>
            <a:chOff x="0" y="0"/>
            <a:chExt cx="912687" cy="2365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Improvement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37614" y="7859444"/>
            <a:ext cx="3465359" cy="898068"/>
            <a:chOff x="0" y="0"/>
            <a:chExt cx="912687" cy="2365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Interview Prep 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570294" y="1278380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 flipH="true">
            <a:off x="9570294" y="2743661"/>
            <a:ext cx="0" cy="7863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551244" y="7292231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H="true">
            <a:off x="9551244" y="4428095"/>
            <a:ext cx="19050" cy="41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577906" y="4840335"/>
            <a:ext cx="19828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9560769" y="4821285"/>
            <a:ext cx="21359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7558856" y="4840335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1715725" y="4839140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6104935" y="560015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V="true">
            <a:off x="12214368" y="558110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7090890" y="5344886"/>
            <a:ext cx="97403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≥ 80%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76243" y="5344886"/>
            <a:ext cx="91420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&lt; 80%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47589" y="567386"/>
            <a:ext cx="2572714" cy="46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1"/>
              </a:lnSpc>
              <a:spcBef>
                <a:spcPct val="0"/>
              </a:spcBef>
            </a:pPr>
            <a:r>
              <a:rPr lang="en-US" b="true" sz="2708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resume upload</a:t>
            </a:r>
          </a:p>
        </p:txBody>
      </p:sp>
      <p:sp>
        <p:nvSpPr>
          <p:cNvPr name="AutoShape 38" id="38"/>
          <p:cNvSpPr/>
          <p:nvPr/>
        </p:nvSpPr>
        <p:spPr>
          <a:xfrm>
            <a:off x="6580861" y="829346"/>
            <a:ext cx="12567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>
            <a:off x="4693167" y="6340928"/>
            <a:ext cx="0" cy="5022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4585313" y="6321878"/>
            <a:ext cx="0" cy="5213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4693167" y="6843198"/>
            <a:ext cx="3279568" cy="2407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>
            <a:off x="11302973" y="6843198"/>
            <a:ext cx="32823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11734775" y="1909271"/>
            <a:ext cx="552706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 generates the target role's expected skill profile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2842" y="9284325"/>
            <a:ext cx="5195597" cy="8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7"/>
              </a:lnSpc>
              <a:spcBef>
                <a:spcPct val="0"/>
              </a:spcBef>
            </a:pPr>
            <a:r>
              <a:rPr lang="en-US" b="true" sz="466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Agents Roadmap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37614" y="380313"/>
            <a:ext cx="3465359" cy="898068"/>
            <a:chOff x="0" y="0"/>
            <a:chExt cx="912687" cy="23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Analysis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37614" y="1845593"/>
            <a:ext cx="3465359" cy="898068"/>
            <a:chOff x="0" y="0"/>
            <a:chExt cx="912687" cy="2365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Job Requirements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37614" y="3530027"/>
            <a:ext cx="3465359" cy="898068"/>
            <a:chOff x="0" y="0"/>
            <a:chExt cx="912687" cy="236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   Skill Gap   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81399" y="4859385"/>
            <a:ext cx="2823536" cy="1481543"/>
            <a:chOff x="0" y="0"/>
            <a:chExt cx="743647" cy="390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Application Ready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73545" y="4840335"/>
            <a:ext cx="2823536" cy="1481543"/>
            <a:chOff x="0" y="0"/>
            <a:chExt cx="743647" cy="3902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Learning Planner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37614" y="6394164"/>
            <a:ext cx="3465359" cy="898068"/>
            <a:chOff x="0" y="0"/>
            <a:chExt cx="912687" cy="2365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Improvement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37614" y="7859444"/>
            <a:ext cx="3465359" cy="898068"/>
            <a:chOff x="0" y="0"/>
            <a:chExt cx="912687" cy="2365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Interview Prep 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570294" y="1278380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 flipH="true">
            <a:off x="9570294" y="2743661"/>
            <a:ext cx="0" cy="7863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551244" y="7292231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H="true">
            <a:off x="9551244" y="4428095"/>
            <a:ext cx="19050" cy="41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577906" y="4840335"/>
            <a:ext cx="19828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9560769" y="4821285"/>
            <a:ext cx="21359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7558856" y="4840335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1715725" y="4839140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6104935" y="560015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V="true">
            <a:off x="12214368" y="558110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7090890" y="5344886"/>
            <a:ext cx="97403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≥ 80%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76243" y="5344886"/>
            <a:ext cx="91420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&lt; 80%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47589" y="567386"/>
            <a:ext cx="2572714" cy="46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1"/>
              </a:lnSpc>
              <a:spcBef>
                <a:spcPct val="0"/>
              </a:spcBef>
            </a:pPr>
            <a:r>
              <a:rPr lang="en-US" b="true" sz="2708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resume upload</a:t>
            </a:r>
          </a:p>
        </p:txBody>
      </p:sp>
      <p:sp>
        <p:nvSpPr>
          <p:cNvPr name="AutoShape 38" id="38"/>
          <p:cNvSpPr/>
          <p:nvPr/>
        </p:nvSpPr>
        <p:spPr>
          <a:xfrm>
            <a:off x="6580861" y="829346"/>
            <a:ext cx="12567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>
            <a:off x="4693167" y="6340928"/>
            <a:ext cx="0" cy="5022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4585313" y="6321878"/>
            <a:ext cx="0" cy="5213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4693167" y="6843198"/>
            <a:ext cx="3279568" cy="2407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>
            <a:off x="11302973" y="6843198"/>
            <a:ext cx="32823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11889373" y="3472877"/>
            <a:ext cx="436373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compares resume vs. requirements → match score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2842" y="9284325"/>
            <a:ext cx="5195597" cy="8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7"/>
              </a:lnSpc>
              <a:spcBef>
                <a:spcPct val="0"/>
              </a:spcBef>
            </a:pPr>
            <a:r>
              <a:rPr lang="en-US" b="true" sz="466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Agents Roadmap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37614" y="380313"/>
            <a:ext cx="3465359" cy="898068"/>
            <a:chOff x="0" y="0"/>
            <a:chExt cx="912687" cy="23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Analysis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37614" y="1845593"/>
            <a:ext cx="3465359" cy="898068"/>
            <a:chOff x="0" y="0"/>
            <a:chExt cx="912687" cy="2365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Job Requirements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37614" y="3530027"/>
            <a:ext cx="3465359" cy="898068"/>
            <a:chOff x="0" y="0"/>
            <a:chExt cx="912687" cy="236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   Skill Gap   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81399" y="4859385"/>
            <a:ext cx="2823536" cy="1481543"/>
            <a:chOff x="0" y="0"/>
            <a:chExt cx="743647" cy="390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Application Ready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73545" y="4840335"/>
            <a:ext cx="2823536" cy="1481543"/>
            <a:chOff x="0" y="0"/>
            <a:chExt cx="743647" cy="3902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Learning Planner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37614" y="6394164"/>
            <a:ext cx="3465359" cy="898068"/>
            <a:chOff x="0" y="0"/>
            <a:chExt cx="912687" cy="2365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Improvement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37614" y="7859444"/>
            <a:ext cx="3465359" cy="898068"/>
            <a:chOff x="0" y="0"/>
            <a:chExt cx="912687" cy="2365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Interview Prep 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570294" y="1278380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 flipH="true">
            <a:off x="9570294" y="2743661"/>
            <a:ext cx="0" cy="7863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551244" y="7292231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H="true">
            <a:off x="9551244" y="4428095"/>
            <a:ext cx="19050" cy="41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577906" y="4840335"/>
            <a:ext cx="19828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9560769" y="4821285"/>
            <a:ext cx="21359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7558856" y="4840335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1715725" y="4839140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6104935" y="560015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V="true">
            <a:off x="12214368" y="558110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7090890" y="5344886"/>
            <a:ext cx="97403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≥ 80%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76243" y="5344886"/>
            <a:ext cx="91420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&lt; 80%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47589" y="567386"/>
            <a:ext cx="2572714" cy="46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1"/>
              </a:lnSpc>
              <a:spcBef>
                <a:spcPct val="0"/>
              </a:spcBef>
            </a:pPr>
            <a:r>
              <a:rPr lang="en-US" b="true" sz="2708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resume upload</a:t>
            </a:r>
          </a:p>
        </p:txBody>
      </p:sp>
      <p:sp>
        <p:nvSpPr>
          <p:cNvPr name="AutoShape 38" id="38"/>
          <p:cNvSpPr/>
          <p:nvPr/>
        </p:nvSpPr>
        <p:spPr>
          <a:xfrm>
            <a:off x="6580861" y="829346"/>
            <a:ext cx="12567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>
            <a:off x="4693167" y="6340928"/>
            <a:ext cx="0" cy="5022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4585313" y="6321878"/>
            <a:ext cx="0" cy="5213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4693167" y="6843198"/>
            <a:ext cx="3279568" cy="2407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>
            <a:off x="11302973" y="6843198"/>
            <a:ext cx="32823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183801" y="3084742"/>
            <a:ext cx="4266538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Application Ready: confirms qualification and readiness for the role (match score ≥ 80%)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727781" y="2665642"/>
            <a:ext cx="4171594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Learning Planner: generates targeted skills, tasks, and time estimates to bridge the skill gap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62842" y="9284325"/>
            <a:ext cx="5195597" cy="8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7"/>
              </a:lnSpc>
              <a:spcBef>
                <a:spcPct val="0"/>
              </a:spcBef>
            </a:pPr>
            <a:r>
              <a:rPr lang="en-US" b="true" sz="466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Agents Roadmap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37614" y="380313"/>
            <a:ext cx="3465359" cy="898068"/>
            <a:chOff x="0" y="0"/>
            <a:chExt cx="912687" cy="23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Analysis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37614" y="1845593"/>
            <a:ext cx="3465359" cy="898068"/>
            <a:chOff x="0" y="0"/>
            <a:chExt cx="912687" cy="2365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Job Requirements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37614" y="3530027"/>
            <a:ext cx="3465359" cy="898068"/>
            <a:chOff x="0" y="0"/>
            <a:chExt cx="912687" cy="236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   Skill Gap   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81399" y="4859385"/>
            <a:ext cx="2823536" cy="1481543"/>
            <a:chOff x="0" y="0"/>
            <a:chExt cx="743647" cy="390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Application Ready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73545" y="4840335"/>
            <a:ext cx="2823536" cy="1481543"/>
            <a:chOff x="0" y="0"/>
            <a:chExt cx="743647" cy="3902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Learning Planner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37614" y="6394164"/>
            <a:ext cx="3465359" cy="898068"/>
            <a:chOff x="0" y="0"/>
            <a:chExt cx="912687" cy="2365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Improvement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37614" y="7859444"/>
            <a:ext cx="3465359" cy="898068"/>
            <a:chOff x="0" y="0"/>
            <a:chExt cx="912687" cy="2365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Interview Prep 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570294" y="1278380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 flipH="true">
            <a:off x="9570294" y="2743661"/>
            <a:ext cx="0" cy="7863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551244" y="7292231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H="true">
            <a:off x="9551244" y="4428095"/>
            <a:ext cx="19050" cy="41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577906" y="4840335"/>
            <a:ext cx="19828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9560769" y="4821285"/>
            <a:ext cx="21359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7558856" y="4840335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1715725" y="4839140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6104935" y="560015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V="true">
            <a:off x="12214368" y="558110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7090890" y="5344886"/>
            <a:ext cx="97403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≥ 80%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76243" y="5344886"/>
            <a:ext cx="91420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&lt; 80%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47589" y="567386"/>
            <a:ext cx="2572714" cy="46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1"/>
              </a:lnSpc>
              <a:spcBef>
                <a:spcPct val="0"/>
              </a:spcBef>
            </a:pPr>
            <a:r>
              <a:rPr lang="en-US" b="true" sz="2708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resume upload</a:t>
            </a:r>
          </a:p>
        </p:txBody>
      </p:sp>
      <p:sp>
        <p:nvSpPr>
          <p:cNvPr name="AutoShape 38" id="38"/>
          <p:cNvSpPr/>
          <p:nvPr/>
        </p:nvSpPr>
        <p:spPr>
          <a:xfrm>
            <a:off x="6580861" y="829346"/>
            <a:ext cx="12567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>
            <a:off x="4693167" y="6340928"/>
            <a:ext cx="0" cy="5022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4585313" y="6321878"/>
            <a:ext cx="0" cy="5213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4693167" y="6843198"/>
            <a:ext cx="3279568" cy="2407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>
            <a:off x="11302973" y="6843198"/>
            <a:ext cx="32823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11563209" y="7062273"/>
            <a:ext cx="604420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rewritten summary, bullet points, keywords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2842" y="9284325"/>
            <a:ext cx="5195597" cy="8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7"/>
              </a:lnSpc>
              <a:spcBef>
                <a:spcPct val="0"/>
              </a:spcBef>
            </a:pPr>
            <a:r>
              <a:rPr lang="en-US" b="true" sz="466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Agents Roadmap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37614" y="380313"/>
            <a:ext cx="3465359" cy="898068"/>
            <a:chOff x="0" y="0"/>
            <a:chExt cx="912687" cy="23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Analysis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37614" y="1845593"/>
            <a:ext cx="3465359" cy="898068"/>
            <a:chOff x="0" y="0"/>
            <a:chExt cx="912687" cy="2365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Job Requirements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37614" y="3530027"/>
            <a:ext cx="3465359" cy="898068"/>
            <a:chOff x="0" y="0"/>
            <a:chExt cx="912687" cy="236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   Skill Gap   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81399" y="4859385"/>
            <a:ext cx="2823536" cy="1481543"/>
            <a:chOff x="0" y="0"/>
            <a:chExt cx="743647" cy="390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Application Ready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73545" y="4840335"/>
            <a:ext cx="2823536" cy="1481543"/>
            <a:chOff x="0" y="0"/>
            <a:chExt cx="743647" cy="3902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647" cy="390201"/>
            </a:xfrm>
            <a:custGeom>
              <a:avLst/>
              <a:gdLst/>
              <a:ahLst/>
              <a:cxnLst/>
              <a:rect r="r" b="b" t="t" l="l"/>
              <a:pathLst>
                <a:path h="390201" w="743647">
                  <a:moveTo>
                    <a:pt x="0" y="0"/>
                  </a:moveTo>
                  <a:lnTo>
                    <a:pt x="743647" y="0"/>
                  </a:lnTo>
                  <a:lnTo>
                    <a:pt x="743647" y="390201"/>
                  </a:lnTo>
                  <a:lnTo>
                    <a:pt x="0" y="390201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43647" cy="447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Learning Planner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37614" y="6394164"/>
            <a:ext cx="3465359" cy="898068"/>
            <a:chOff x="0" y="0"/>
            <a:chExt cx="912687" cy="2365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Resume Improvement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837614" y="7859444"/>
            <a:ext cx="3465359" cy="898068"/>
            <a:chOff x="0" y="0"/>
            <a:chExt cx="912687" cy="2365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2687" cy="236528"/>
            </a:xfrm>
            <a:custGeom>
              <a:avLst/>
              <a:gdLst/>
              <a:ahLst/>
              <a:cxnLst/>
              <a:rect r="r" b="b" t="t" l="l"/>
              <a:pathLst>
                <a:path h="236528" w="912687">
                  <a:moveTo>
                    <a:pt x="0" y="0"/>
                  </a:moveTo>
                  <a:lnTo>
                    <a:pt x="912687" y="0"/>
                  </a:lnTo>
                  <a:lnTo>
                    <a:pt x="912687" y="236528"/>
                  </a:lnTo>
                  <a:lnTo>
                    <a:pt x="0" y="236528"/>
                  </a:lnTo>
                  <a:close/>
                </a:path>
              </a:pathLst>
            </a:custGeom>
            <a:solidFill>
              <a:srgbClr val="2F6F5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12687" cy="29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  Interview Prep 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570294" y="1278380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 flipH="true">
            <a:off x="9570294" y="2743661"/>
            <a:ext cx="0" cy="7863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551244" y="7292231"/>
            <a:ext cx="0" cy="567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H="true">
            <a:off x="9551244" y="4428095"/>
            <a:ext cx="19050" cy="41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7577906" y="4840335"/>
            <a:ext cx="19828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9560769" y="4821285"/>
            <a:ext cx="21359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7558856" y="4840335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1715725" y="4839140"/>
            <a:ext cx="19050" cy="3031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H="true">
            <a:off x="6104935" y="560015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V="true">
            <a:off x="12214368" y="5581106"/>
            <a:ext cx="95917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7090890" y="5344886"/>
            <a:ext cx="97403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≥ 80%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76243" y="5344886"/>
            <a:ext cx="91420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&lt; 80%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47589" y="567386"/>
            <a:ext cx="2572714" cy="461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1"/>
              </a:lnSpc>
              <a:spcBef>
                <a:spcPct val="0"/>
              </a:spcBef>
            </a:pPr>
            <a:r>
              <a:rPr lang="en-US" b="true" sz="2708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 resume upload</a:t>
            </a:r>
          </a:p>
        </p:txBody>
      </p:sp>
      <p:sp>
        <p:nvSpPr>
          <p:cNvPr name="AutoShape 38" id="38"/>
          <p:cNvSpPr/>
          <p:nvPr/>
        </p:nvSpPr>
        <p:spPr>
          <a:xfrm>
            <a:off x="6580861" y="829346"/>
            <a:ext cx="12567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>
            <a:off x="4693167" y="6340928"/>
            <a:ext cx="0" cy="5022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4585313" y="6321878"/>
            <a:ext cx="0" cy="5213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4693167" y="6843198"/>
            <a:ext cx="3279568" cy="2407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>
            <a:off x="11302973" y="6843198"/>
            <a:ext cx="32823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3" id="43"/>
          <p:cNvSpPr txBox="true"/>
          <p:nvPr/>
        </p:nvSpPr>
        <p:spPr>
          <a:xfrm rot="0">
            <a:off x="11734775" y="8072258"/>
            <a:ext cx="511700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technical / project / behavioral Q&amp;A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2842" y="9284325"/>
            <a:ext cx="5195597" cy="8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7"/>
              </a:lnSpc>
              <a:spcBef>
                <a:spcPct val="0"/>
              </a:spcBef>
            </a:pPr>
            <a:r>
              <a:rPr lang="en-US" b="true" sz="466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Agents Roadmap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5047" y="570548"/>
            <a:ext cx="1219112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S</a:t>
            </a:r>
            <a:r>
              <a:rPr lang="en-US" sz="4800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ECURITY &amp; RELIABILITY CONSID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0293" y="2275549"/>
            <a:ext cx="17267414" cy="5640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26"/>
              </a:lnSpc>
            </a:pPr>
            <a:r>
              <a:rPr lang="en-US" b="true" sz="3017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Reliability: </a:t>
            </a:r>
            <a:r>
              <a:rPr lang="en-US" sz="3017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If one AI step fails, we catch the error and return a safe fallback instead of crashing the whole app.</a:t>
            </a:r>
          </a:p>
          <a:p>
            <a:pPr algn="just">
              <a:lnSpc>
                <a:spcPts val="4526"/>
              </a:lnSpc>
            </a:pPr>
            <a:r>
              <a:rPr lang="en-US" b="true" sz="3017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Prompt Injection: </a:t>
            </a:r>
            <a:r>
              <a:rPr lang="en-US" sz="3017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We prevent bad instructions hidden in a resume from taking over by forcing the AI to only output structured JSON, not free text.</a:t>
            </a:r>
          </a:p>
          <a:p>
            <a:pPr algn="just">
              <a:lnSpc>
                <a:spcPts val="4526"/>
              </a:lnSpc>
            </a:pPr>
            <a:r>
              <a:rPr lang="en-US" b="true" sz="3017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Cost Explosion:</a:t>
            </a:r>
            <a:r>
              <a:rPr lang="en-US" sz="3017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 We avoid runaway costs by running our own local AI model instead of a pay-per-use API.</a:t>
            </a:r>
          </a:p>
          <a:p>
            <a:pPr algn="just">
              <a:lnSpc>
                <a:spcPts val="4526"/>
              </a:lnSpc>
            </a:pPr>
            <a:r>
              <a:rPr lang="en-US" b="true" sz="3017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Observability:</a:t>
            </a:r>
            <a:r>
              <a:rPr lang="en-US" sz="3017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 We track what's happening by logging every AI response, so we can debug issues after the fact.</a:t>
            </a:r>
          </a:p>
          <a:p>
            <a:pPr algn="just">
              <a:lnSpc>
                <a:spcPts val="4526"/>
              </a:lnSpc>
            </a:pPr>
            <a:r>
              <a:rPr lang="en-US" b="true" sz="3017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Org Integration:</a:t>
            </a:r>
            <a:r>
              <a:rPr lang="en-US" sz="3017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 We control access with password-protected accounts and login tokens.</a:t>
            </a:r>
          </a:p>
          <a:p>
            <a:pPr algn="just">
              <a:lnSpc>
                <a:spcPts val="452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5047" y="570548"/>
            <a:ext cx="1219112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S</a:t>
            </a:r>
            <a:r>
              <a:rPr lang="en-US" sz="4800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ECURITY &amp; RELIABILITY CONSID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6980" y="2217674"/>
            <a:ext cx="17194249" cy="509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5"/>
              </a:lnSpc>
            </a:pPr>
          </a:p>
          <a:p>
            <a:pPr algn="just">
              <a:lnSpc>
                <a:spcPts val="4545"/>
              </a:lnSpc>
            </a:pPr>
            <a:r>
              <a:rPr lang="en-US" b="true" sz="303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Data Leakage: </a:t>
            </a:r>
            <a:r>
              <a:rPr lang="en-US" sz="303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We protect user data by hashing passwords and giving every uploaded file a random name so files can't be overwritten or guessed.</a:t>
            </a:r>
          </a:p>
          <a:p>
            <a:pPr algn="just">
              <a:lnSpc>
                <a:spcPts val="4545"/>
              </a:lnSpc>
            </a:pPr>
            <a:r>
              <a:rPr lang="en-US" b="true" sz="303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Evaluation:</a:t>
            </a:r>
            <a:r>
              <a:rPr lang="en-US" sz="303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 We check accuracy with rule-based skill matching (not AI) for the one thing that must be precise: comparing skills.</a:t>
            </a:r>
          </a:p>
          <a:p>
            <a:pPr algn="just">
              <a:lnSpc>
                <a:spcPts val="4545"/>
              </a:lnSpc>
            </a:pPr>
            <a:r>
              <a:rPr lang="en-US" b="true" sz="303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Latency: </a:t>
            </a:r>
            <a:r>
              <a:rPr lang="en-US" sz="303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We're</a:t>
            </a:r>
            <a:r>
              <a:rPr lang="en-US" sz="303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 aware sequential AI calls add latency and plan to run independent steps in parallel.</a:t>
            </a:r>
          </a:p>
          <a:p>
            <a:pPr algn="just">
              <a:lnSpc>
                <a:spcPts val="4545"/>
              </a:lnSpc>
            </a:pPr>
            <a:r>
              <a:rPr lang="en-US" b="true" sz="3030">
                <a:solidFill>
                  <a:srgbClr val="2F6F5E"/>
                </a:solidFill>
                <a:latin typeface="Raleway Bold"/>
                <a:ea typeface="Raleway Bold"/>
                <a:cs typeface="Raleway Bold"/>
                <a:sym typeface="Raleway Bold"/>
              </a:rPr>
              <a:t>Regulatory: </a:t>
            </a:r>
            <a:r>
              <a:rPr lang="en-US" sz="303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We limit exposure by only storing what's needed (resume data, no extra tracking) and keeping it local rather than sending it to a third party.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F6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95680" y="3350139"/>
            <a:ext cx="14296639" cy="330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98"/>
              </a:lnSpc>
            </a:pPr>
            <a:r>
              <a:rPr lang="en-US" sz="12798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APP</a:t>
            </a:r>
          </a:p>
          <a:p>
            <a:pPr algn="ctr">
              <a:lnSpc>
                <a:spcPts val="12798"/>
              </a:lnSpc>
            </a:pPr>
            <a:r>
              <a:rPr lang="en-US" sz="12798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INTERFACE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6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7658" y="1028700"/>
            <a:ext cx="17532684" cy="7911624"/>
          </a:xfrm>
          <a:custGeom>
            <a:avLst/>
            <a:gdLst/>
            <a:ahLst/>
            <a:cxnLst/>
            <a:rect r="r" b="b" t="t" l="l"/>
            <a:pathLst>
              <a:path h="7911624" w="17532684">
                <a:moveTo>
                  <a:pt x="0" y="0"/>
                </a:moveTo>
                <a:lnTo>
                  <a:pt x="17532684" y="0"/>
                </a:lnTo>
                <a:lnTo>
                  <a:pt x="17532684" y="7911624"/>
                </a:lnTo>
                <a:lnTo>
                  <a:pt x="0" y="7911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6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9375" y="1188463"/>
            <a:ext cx="17529251" cy="7910075"/>
          </a:xfrm>
          <a:custGeom>
            <a:avLst/>
            <a:gdLst/>
            <a:ahLst/>
            <a:cxnLst/>
            <a:rect r="r" b="b" t="t" l="l"/>
            <a:pathLst>
              <a:path h="7910075" w="17529251">
                <a:moveTo>
                  <a:pt x="0" y="0"/>
                </a:moveTo>
                <a:lnTo>
                  <a:pt x="17529250" y="0"/>
                </a:lnTo>
                <a:lnTo>
                  <a:pt x="17529250" y="7910074"/>
                </a:lnTo>
                <a:lnTo>
                  <a:pt x="0" y="791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6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8260" y="1309797"/>
            <a:ext cx="16991480" cy="7667405"/>
          </a:xfrm>
          <a:custGeom>
            <a:avLst/>
            <a:gdLst/>
            <a:ahLst/>
            <a:cxnLst/>
            <a:rect r="r" b="b" t="t" l="l"/>
            <a:pathLst>
              <a:path h="7667405" w="16991480">
                <a:moveTo>
                  <a:pt x="0" y="0"/>
                </a:moveTo>
                <a:lnTo>
                  <a:pt x="16991480" y="0"/>
                </a:lnTo>
                <a:lnTo>
                  <a:pt x="16991480" y="7667406"/>
                </a:lnTo>
                <a:lnTo>
                  <a:pt x="0" y="76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6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89305" y="0"/>
            <a:ext cx="14817271" cy="10287000"/>
          </a:xfrm>
          <a:custGeom>
            <a:avLst/>
            <a:gdLst/>
            <a:ahLst/>
            <a:cxnLst/>
            <a:rect r="r" b="b" t="t" l="l"/>
            <a:pathLst>
              <a:path h="10287000" w="14817271">
                <a:moveTo>
                  <a:pt x="0" y="0"/>
                </a:moveTo>
                <a:lnTo>
                  <a:pt x="14817271" y="0"/>
                </a:lnTo>
                <a:lnTo>
                  <a:pt x="148172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735" t="0" r="-24116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6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012" y="0"/>
            <a:ext cx="15710006" cy="10287000"/>
          </a:xfrm>
          <a:custGeom>
            <a:avLst/>
            <a:gdLst/>
            <a:ahLst/>
            <a:cxnLst/>
            <a:rect r="r" b="b" t="t" l="l"/>
            <a:pathLst>
              <a:path h="10287000" w="15710006">
                <a:moveTo>
                  <a:pt x="0" y="0"/>
                </a:moveTo>
                <a:lnTo>
                  <a:pt x="15710006" y="0"/>
                </a:lnTo>
                <a:lnTo>
                  <a:pt x="157100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649" t="0" r="-21459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6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2141" y="0"/>
            <a:ext cx="14826129" cy="10287000"/>
          </a:xfrm>
          <a:custGeom>
            <a:avLst/>
            <a:gdLst/>
            <a:ahLst/>
            <a:cxnLst/>
            <a:rect r="r" b="b" t="t" l="l"/>
            <a:pathLst>
              <a:path h="10287000" w="14826129">
                <a:moveTo>
                  <a:pt x="0" y="0"/>
                </a:moveTo>
                <a:lnTo>
                  <a:pt x="14826130" y="0"/>
                </a:lnTo>
                <a:lnTo>
                  <a:pt x="148261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568" t="0" r="-26191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6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1694" y="0"/>
            <a:ext cx="14323833" cy="10287000"/>
          </a:xfrm>
          <a:custGeom>
            <a:avLst/>
            <a:gdLst/>
            <a:ahLst/>
            <a:cxnLst/>
            <a:rect r="r" b="b" t="t" l="l"/>
            <a:pathLst>
              <a:path h="10287000" w="14323833">
                <a:moveTo>
                  <a:pt x="0" y="0"/>
                </a:moveTo>
                <a:lnTo>
                  <a:pt x="14323833" y="0"/>
                </a:lnTo>
                <a:lnTo>
                  <a:pt x="1432383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16" t="0" r="-28535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5755" y="1533525"/>
            <a:ext cx="11516490" cy="2680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9"/>
              </a:lnSpc>
            </a:pPr>
            <a:r>
              <a:rPr lang="en-US" sz="10309">
                <a:solidFill>
                  <a:srgbClr val="2F6F5E"/>
                </a:solidFill>
                <a:latin typeface="Prata"/>
                <a:ea typeface="Prata"/>
                <a:cs typeface="Prata"/>
                <a:sym typeface="Prata"/>
              </a:rPr>
              <a:t>THANK YOU FOR LISTENING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2F6F5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187109" y="9510857"/>
            <a:ext cx="591378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Shawn Garcia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Liceria &amp; Co.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510857"/>
            <a:ext cx="295689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2026 February 9</a:t>
            </a:r>
          </a:p>
        </p:txBody>
      </p:sp>
      <p:sp>
        <p:nvSpPr>
          <p:cNvPr name="Freeform 8" id="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813868" y="5019125"/>
            <a:ext cx="3679549" cy="3679549"/>
          </a:xfrm>
          <a:custGeom>
            <a:avLst/>
            <a:gdLst/>
            <a:ahLst/>
            <a:cxnLst/>
            <a:rect r="r" b="b" t="t" l="l"/>
            <a:pathLst>
              <a:path h="3679549" w="3679549">
                <a:moveTo>
                  <a:pt x="0" y="0"/>
                </a:moveTo>
                <a:lnTo>
                  <a:pt x="3679550" y="0"/>
                </a:lnTo>
                <a:lnTo>
                  <a:pt x="3679550" y="3679550"/>
                </a:lnTo>
                <a:lnTo>
                  <a:pt x="0" y="367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14996" y="6444517"/>
            <a:ext cx="2926931" cy="74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6"/>
              </a:lnSpc>
              <a:spcBef>
                <a:spcPct val="0"/>
              </a:spcBef>
            </a:pPr>
            <a:r>
              <a:rPr lang="en-US" sz="4404">
                <a:solidFill>
                  <a:srgbClr val="2F6F5E"/>
                </a:solidFill>
                <a:latin typeface="Raleway"/>
                <a:ea typeface="Raleway"/>
                <a:cs typeface="Raleway"/>
                <a:sym typeface="Raleway"/>
              </a:rPr>
              <a:t>Github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DAHQLyRn2mM</dc:identifier>
  <dcterms:modified xsi:type="dcterms:W3CDTF">2011-08-01T06:04:30Z</dcterms:modified>
  <cp:revision>1</cp:revision>
  <dc:title>Green Monochromatic Simple The Minimalist Presentation Template</dc:title>
</cp:coreProperties>
</file>